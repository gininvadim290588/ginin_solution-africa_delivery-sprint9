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dfd137dd3f48d8" /><Relationship Type="http://schemas.openxmlformats.org/officeDocument/2006/relationships/extended-properties" Target="/docProps/app.xml" Id="Rec805637ffb94575" /><Relationship Type="http://schemas.openxmlformats.org/officeDocument/2006/relationships/officeDocument" Target="/ppt/presentation.xml" Id="R393c82d841fe44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31dfe0806d45b2"/>
  </p:sldMasterIdLst>
  <p:notesMasterIdLst>
    <p:notesMasterId xmlns:r="http://schemas.openxmlformats.org/officeDocument/2006/relationships" r:id="R1378cc47b78f444f"/>
  </p:notesMasterIdLst>
  <p:sldIdLst>
    <p:sldId xmlns:r="http://schemas.openxmlformats.org/officeDocument/2006/relationships" id="256" r:id="Rf6abaef583d943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e6a3765508450c" /><Relationship Type="http://schemas.openxmlformats.org/officeDocument/2006/relationships/slideMaster" Target="/ppt/slideMasters/slideMaster1.xml" Id="R3a31dfe0806d45b2" /><Relationship Type="http://schemas.openxmlformats.org/officeDocument/2006/relationships/notesMaster" Target="/ppt/notesMasters/notesMaster1.xml" Id="R1378cc47b78f444f" /><Relationship Type="http://schemas.openxmlformats.org/officeDocument/2006/relationships/presProps" Target="/ppt/presProps.xml" Id="R65676394f4494908" /><Relationship Type="http://schemas.openxmlformats.org/officeDocument/2006/relationships/tableStyles" Target="/ppt/tableStyles.xml" Id="R7e0a9540af96413f" /><Relationship Type="http://schemas.openxmlformats.org/officeDocument/2006/relationships/slide" Target="/ppt/slides/slide1.xml" Id="Rf6abaef583d943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f33c11742942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c2b2092d2e4315" /><Relationship Type="http://schemas.openxmlformats.org/officeDocument/2006/relationships/notesMaster" Target="/ppt/notesMasters/notesMaster1.xml" Id="R31f57133578a4e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Основания: A1 с.1–3, A3 с.2, A5 с.1–3, A6 с.1–2, A7, A8; Task1 Canvas 6–9, C04–C05. Расчёт: tco-model.xlsx, Контроль C6:E22. Общий прогноз 41,3М заказов за 5 лет, AOV $25, PSP 2,2% all-in (гипотеза), ФОТ $5000/FTE/мес и +30%/год. TCO полный A/B/C = 38,243/39,763/45,016 млн; без PSP с резервом = 13,256/14,776/20,029 млн. Техника ≤$5000 первые 6 мес требует ограничить пилот 2000 заказов/мес; A при &gt;9000 требует нового бюджета. Oracle EE 4 Processor в C — допущение, не указание редакции CTO; прайс 47500 и 10450 поддержки, без RAC/ADG. Даже без Oracle C =15700/мес. https://www.oracle.com/europe/a/ocom/docs/corporate/pricing/technology-price-list-070617.pdf (15.09.2026, с.2); https://flutterwave.com/ke/pricing (mobile money 2,9% до налогов); https://www.cncf.io/training/certification/software-conformance/; Фактически проверено05.10.2026, позднее августовского начала кейса. Oracle прайс15.09.2026 является поздним уточнением. Для первоначального выбора цены — оценки до исторической редакции/оферты. Кейс начинается 10.08.2026. Встреча в Найроби ориентир 17.08, не подтверждённая дата. При готовности условий старта 10.08 A готов 05.10 (10 дней резерва), B 02.11 (18 дней опоздания), C 25.01.2027 (102 дня опоздания). При старте A после встречи 17.08 готовность 12.10 и резерв три дня. Предварительная проверка продукта 12.10, решение о допуске 14.10, открытие 15.10. Сроки8/12/24 недели от готовой команды/договоров; исключение SLO99,9/RTO60/RPO15 должно быть принято инвестором. ПриложениеА—TCO инструкция, Б—FMEA. Речь на десять минут в nairobi-script.md; календарь и допущения в ../case-calendar.md.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342d60df042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5c83d62ac47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bc7deb32a940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eb0b1fdcd47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e3bd3d316f41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7f0e7a2464b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74875B8-ECAF-4ED6-8743-D1EA204F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B2E74B3-F264-4676-A352-84FCAD9564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6976FE5-BF55-4AAB-984F-FB4AB6B11F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1AF6212-64C1-4FE3-AC36-F6D62313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B13514E-C22B-47D6-B6EC-7D35DF259A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2E7B333-13B9-47DA-A322-B0E809F3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3245BFB-F73D-4DB7-AF04-7F07E58B30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2151F24-21F0-4AD1-9CF7-2FFD5FF912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A782D0B-0888-46CB-BF86-D2B018CE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494B0CA-7FE4-464A-9A7C-A45F862E3C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380ED0-D230-4451-B142-D999EDDA48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273A2BA-532A-48DE-B4FA-49B5665189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1501856-8719-4A35-B722-B8033F63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FB71A50-E6BD-4734-A1CF-2AD062A988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581BF3-3DF0-422B-8BC4-D9E3A7F021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0dd6d9e9834628" /><Relationship Type="http://schemas.openxmlformats.org/officeDocument/2006/relationships/slideLayout" Target="/ppt/slideLayouts/slideLayout1.xml" Id="Rc3064fa979284dc9" /><Relationship Type="http://schemas.openxmlformats.org/officeDocument/2006/relationships/slideLayout" Target="/ppt/slideLayouts/slideLayout2.xml" Id="Rb6306129fe364d37" /><Relationship Type="http://schemas.openxmlformats.org/officeDocument/2006/relationships/slideLayout" Target="/ppt/slideLayouts/slideLayout3.xml" Id="R0a0cf5914bcf42af" /><Relationship Type="http://schemas.openxmlformats.org/officeDocument/2006/relationships/slideLayout" Target="/ppt/slideLayouts/slideLayout4.xml" Id="Rceb4953f81e84c39" /><Relationship Type="http://schemas.openxmlformats.org/officeDocument/2006/relationships/slideLayout" Target="/ppt/slideLayouts/slideLayout5.xml" Id="R122ffa0489844db2" /><Relationship Type="http://schemas.openxmlformats.org/officeDocument/2006/relationships/slideLayout" Target="/ppt/slideLayouts/slideLayout6.xml" Id="Ra9ac8c7ff5c640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064fa979284dc9"/>
    <p:sldLayoutId xmlns:r="http://schemas.openxmlformats.org/officeDocument/2006/relationships" id="2147483650" r:id="Rb6306129fe364d37"/>
    <p:sldLayoutId xmlns:r="http://schemas.openxmlformats.org/officeDocument/2006/relationships" id="2147483651" r:id="R0a0cf5914bcf42af"/>
    <p:sldLayoutId xmlns:r="http://schemas.openxmlformats.org/officeDocument/2006/relationships" id="2147483652" r:id="Rceb4953f81e84c39"/>
    <p:sldLayoutId xmlns:r="http://schemas.openxmlformats.org/officeDocument/2006/relationships" id="2147483653" r:id="R122ffa0489844db2"/>
    <p:sldLayoutId xmlns:r="http://schemas.openxmlformats.org/officeDocument/2006/relationships" id="2147483654" r:id="Ra9ac8c7ff5c640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73b3da0bc24dbc" /><Relationship Type="http://schemas.openxmlformats.org/officeDocument/2006/relationships/notesSlide" Target="/ppt/notesSlides/notesSlide1.xml" Id="R7d2c1a4d0b7b4e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399E2-5562-43AB-A491-8619D890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1143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B4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B45"/>
                </a:solidFill>
                <a:latin typeface="DejaVu Sans"/>
                <a:ea typeface="DejaVu Sans"/>
                <a:cs typeface="DejaVu Sans"/>
              </a:rPr>
              <a:t>Выбор: модульный монолит.</a:t>
            </a:r>
          </a:p>
          <a:p xmlns:a="http://schemas.openxmlformats.org/drawingml/2006/main">
            <a:pPr>
              <a:buNone/>
              <a:defRPr sz="3300" b="1">
                <a:solidFill>
                  <a:srgbClr val="173B4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B45"/>
                </a:solidFill>
                <a:latin typeface="DejaVu Sans"/>
                <a:ea typeface="DejaVu Sans"/>
                <a:cs typeface="DejaVu Sans"/>
              </a:rPr>
              <a:t>Сервисы — по подтверждённой потребности.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C6CE9-5235-4F54-994B-496BD1B8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90650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3B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3B45"/>
                </a:solidFill>
                <a:latin typeface="DejaVu Sans"/>
                <a:ea typeface="DejaVu Sans"/>
                <a:cs typeface="DejaVu Sans"/>
              </a:rPr>
              <a:t>NG/KE · Go/PostgreSQL · лицензированные PSP и партнёрская доставка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5B765-8C95-4985-A091-5B97FCFB111D}"/>
              </a:ext>
            </a:extLst>
          </p:cNvPr>
          <p:cNvGraphicFramePr/>
          <p:nvPr/>
        </p:nvGraphicFramePr>
        <p:xfrm>
          <a:off xmlns:a="http://schemas.openxmlformats.org/drawingml/2006/main" x="381000" y="1905000"/>
          <a:ext xmlns:a="http://schemas.openxmlformats.org/drawingml/2006/main" cx="114300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667000"/>
                <a:gridCol w="2667000"/>
                <a:gridCol w="2667000"/>
              </a:tblGrid>
              <a:tr h="4667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Критерий</a:t>
                      </a:r>
                    </a:p>
                  </a:txBody>
                  <a:tcPr marL="114300" marR="114300" marT="66675" marB="66675">
                    <a:solidFill>
                      <a:srgbClr val="173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· монолит</a:t>
                      </a:r>
                    </a:p>
                  </a:txBody>
                  <a:tcPr marL="114300" marR="114300" marT="66675" marB="66675">
                    <a:solidFill>
                      <a:srgbClr val="173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 · 6 сервисов</a:t>
                      </a:r>
                    </a:p>
                  </a:txBody>
                  <a:tcPr marL="114300" marR="114300" marT="66675" marB="66675">
                    <a:solidFill>
                      <a:srgbClr val="173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 · CTO / 40</a:t>
                      </a:r>
                    </a:p>
                  </a:txBody>
                  <a:tcPr marL="114300" marR="114300" marT="66675" marB="66675">
                    <a:solidFill>
                      <a:srgbClr val="173B45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Срок / команда</a:t>
                      </a:r>
                    </a:p>
                  </a:txBody>
                  <a:tcPr marL="114300" marR="114300" marT="66675" marB="66675"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 недель / 6 FTE</a:t>
                      </a:r>
                    </a:p>
                  </a:txBody>
                  <a:tcPr marL="114300" marR="114300" marT="66675" marB="66675">
                    <a:solidFill>
                      <a:srgbClr val="E5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 недель / 8 FTE</a:t>
                      </a:r>
                    </a:p>
                  </a:txBody>
                  <a:tcPr marL="114300" marR="114300" marT="66675" marB="66675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 недели / 18 FTE</a:t>
                      </a:r>
                    </a:p>
                  </a:txBody>
                  <a:tcPr marL="114300" marR="114300" marT="66675" marB="66675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Техника / месяц¹</a:t>
                      </a:r>
                    </a:p>
                  </a:txBody>
                  <a:tcPr marL="114300" marR="114300" marT="66675" marB="66675"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$3 950</a:t>
                      </a:r>
                    </a:p>
                  </a:txBody>
                  <a:tcPr marL="114300" marR="114300" marT="66675" marB="66675">
                    <a:solidFill>
                      <a:srgbClr val="E5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$4 750</a:t>
                      </a:r>
                    </a:p>
                  </a:txBody>
                  <a:tcPr marL="114300" marR="114300" marT="66675" marB="66675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$19 183</a:t>
                      </a:r>
                    </a:p>
                  </a:txBody>
                  <a:tcPr marL="114300" marR="114300" marT="66675" marB="66675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TCO 5 лет без PSP²</a:t>
                      </a:r>
                    </a:p>
                  </a:txBody>
                  <a:tcPr marL="114300" marR="114300" marT="66675" marB="66675"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$13,26 млн</a:t>
                      </a:r>
                    </a:p>
                  </a:txBody>
                  <a:tcPr marL="114300" marR="114300" marT="66675" marB="66675">
                    <a:solidFill>
                      <a:srgbClr val="E5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$14,78 млн</a:t>
                      </a:r>
                    </a:p>
                  </a:txBody>
                  <a:tcPr marL="114300" marR="114300" marT="66675" marB="66675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$20,03 млн</a:t>
                      </a:r>
                    </a:p>
                  </a:txBody>
                  <a:tcPr marL="114300" marR="114300" marT="66675" marB="66675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Заказ: старт → 12 мес.³</a:t>
                      </a:r>
                    </a:p>
                  </a:txBody>
                  <a:tcPr marL="114300" marR="114300" marT="66675" marB="66675"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$19,28 → $1,12</a:t>
                      </a:r>
                    </a:p>
                  </a:txBody>
                  <a:tcPr marL="114300" marR="114300" marT="66675" marB="66675">
                    <a:solidFill>
                      <a:srgbClr val="E5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$25,22 → $1,22</a:t>
                      </a:r>
                    </a:p>
                  </a:txBody>
                  <a:tcPr marL="114300" marR="114300" marT="66675" marB="66675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$60,66 → $1,68</a:t>
                      </a:r>
                    </a:p>
                  </a:txBody>
                  <a:tcPr marL="114300" marR="114300" marT="66675" marB="66675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Ошибка 10М → 50К⁴</a:t>
                      </a:r>
                    </a:p>
                  </a:txBody>
                  <a:tcPr marL="114300" marR="114300" marT="66675" marB="66675"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$26,55 тыс.</a:t>
                      </a:r>
                    </a:p>
                  </a:txBody>
                  <a:tcPr marL="114300" marR="114300" marT="66675" marB="66675">
                    <a:solidFill>
                      <a:srgbClr val="E5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$63,15 тыс.</a:t>
                      </a:r>
                    </a:p>
                  </a:txBody>
                  <a:tcPr marL="114300" marR="114300" marT="66675" marB="66675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$548,43 тыс.</a:t>
                      </a:r>
                    </a:p>
                  </a:txBody>
                  <a:tcPr marL="114300" marR="114300" marT="66675" marB="66675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49297-E854-4E7F-AB63-60E9C7A6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14900"/>
            <a:ext cx="1143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4481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A4481B"/>
                </a:solidFill>
                <a:latin typeface="DejaVu Sans"/>
                <a:ea typeface="DejaVu Sans"/>
                <a:cs typeface="DejaVu Sans"/>
              </a:rPr>
              <a:t>План от 10.08: MVP 05.10. Открытие 15.10. Резерв 10 дней.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460A1-AE8D-4CB7-8A6B-A732BDF3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4830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3B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3B45"/>
                </a:solidFill>
                <a:latin typeface="DejaVu Sans"/>
                <a:ea typeface="DejaVu Sans"/>
                <a:cs typeface="DejaVu Sans"/>
              </a:rPr>
              <a:t>Утвердить: объём/SLO · оферты CFO · готовность CEO/CTO.</a:t>
            </a:r>
          </a:p>
          <a:p xmlns:a="http://schemas.openxmlformats.org/drawingml/2006/main">
            <a:pPr>
              <a:buNone/>
              <a:defRPr sz="1800" b="0">
                <a:solidFill>
                  <a:srgbClr val="173B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3B45"/>
                </a:solidFill>
                <a:latin typeface="DejaVu Sans"/>
                <a:ea typeface="DejaVu Sans"/>
                <a:cs typeface="DejaVu Sans"/>
              </a:rPr>
              <a:t>Kubernetes/Oracle — отдельный ADR после проверки нагрузки и бюджета.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72A5E-8394-4D9B-A0A4-C1BD9E51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67450"/>
            <a:ext cx="1143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46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46A"/>
                </a:solidFill>
                <a:latin typeface="DejaVu Sans"/>
                <a:ea typeface="DejaVu Sans"/>
                <a:cs typeface="DejaVu Sans"/>
              </a:rPr>
              <a:t>¹ Все регулярные IT, лимит $5К.  ² С резервом 10%.  ³ 2К → 131К заказов/мес., без разового запуска.</a:t>
            </a:r>
          </a:p>
          <a:p xmlns:a="http://schemas.openxmlformats.org/drawingml/2006/main">
            <a:pPr>
              <a:buNone/>
              <a:defRPr sz="1275" b="0">
                <a:solidFill>
                  <a:srgbClr val="52646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46A"/>
                </a:solidFill>
                <a:latin typeface="DejaVu Sans"/>
                <a:ea typeface="DejaVu Sans"/>
                <a:cs typeface="DejaVu Sans"/>
              </a:rPr>
              <a:t>⁴ Невозвратные расходы по гипотезе 3 мес. до сокращения. Все цены — оценки; нужны договоры.</a:t>
            </a:r>
          </a:p>
        </p:txBody>
      </p:sp>
    </p:spTree>
    <p:extLst>
      <p:ext uri="{BB962C8B-B14F-4D97-AF65-F5344CB8AC3E}">
        <p14:creationId xmlns:p14="http://schemas.microsoft.com/office/powerpoint/2010/main" val="123978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2026-10-08T18:34:07.0590000Z</dcterms:created>
  <dcterms:modified xsi:type="dcterms:W3CDTF">2026-10-08T18:34:07.0590000Z</dcterms:modified>
</coreProperties>
</file>