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69d9aadff14fea" /><Relationship Type="http://schemas.openxmlformats.org/officeDocument/2006/relationships/extended-properties" Target="/docProps/app.xml" Id="R53c39a4ff02842b0" /><Relationship Type="http://schemas.openxmlformats.org/officeDocument/2006/relationships/officeDocument" Target="/ppt/presentation.xml" Id="R125a3ca3c1964e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f51ffed58f4018"/>
  </p:sldMasterIdLst>
  <p:notesMasterIdLst>
    <p:notesMasterId xmlns:r="http://schemas.openxmlformats.org/officeDocument/2006/relationships" r:id="R2422ad11802149a0"/>
  </p:notesMasterIdLst>
  <p:sldIdLst>
    <p:sldId xmlns:r="http://schemas.openxmlformats.org/officeDocument/2006/relationships" id="256" r:id="R25d89ccd3ac048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d0fe7b0c594398" /><Relationship Type="http://schemas.openxmlformats.org/officeDocument/2006/relationships/slideMaster" Target="/ppt/slideMasters/slideMaster1.xml" Id="Rb4f51ffed58f4018" /><Relationship Type="http://schemas.openxmlformats.org/officeDocument/2006/relationships/notesMaster" Target="/ppt/notesMasters/notesMaster1.xml" Id="R2422ad11802149a0" /><Relationship Type="http://schemas.openxmlformats.org/officeDocument/2006/relationships/presProps" Target="/ppt/presProps.xml" Id="Recda2a95502a4383" /><Relationship Type="http://schemas.openxmlformats.org/officeDocument/2006/relationships/tableStyles" Target="/ppt/tableStyles.xml" Id="R43c72715c69d4878" /><Relationship Type="http://schemas.openxmlformats.org/officeDocument/2006/relationships/slide" Target="/ppt/slides/slide1.xml" Id="R25d89ccd3ac048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63327ac36c40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c66a8cb24144a2" /><Relationship Type="http://schemas.openxmlformats.org/officeDocument/2006/relationships/notesMaster" Target="/ppt/notesMasters/notesMaster1.xml" Id="Rd02f92c4916f44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Основания: A1 с.1–3, A3 с.2, A5 с.1–3, A6 с.1–2, A7, A8; Task1 Canvas 6–9, C04–C05. Расчёт: tco-model.xlsx, Контроль C6:E22. Общий прогноз 41,3М заказов за 5 лет, AOV $25, PSP 2,2% all-in (гипотеза), ФОТ $5000/FTE/мес и +30%/год. TCO полный A/B/C = 38,243/39,763/45,016 млн; без PSP с резервом = 13,256/14,776/20,029 млн. Техника ≤$5000 первые 6 мес требует ограничить пилот 2000 заказов/мес; A при &gt;9000 требует нового бюджета. Oracle EE 4 Processor в C — допущение, не указание редакции CTO; прайс 47500 и 10450 поддержки, без RAC/ADG. Даже без Oracle C =15700/мес. https://www.oracle.com/europe/a/ocom/docs/corporate/pricing/technology-price-list-070617.pdf (15.09.2026, с.2); https://flutterwave.com/ke/pricing (mobile money 2,9% до налогов); https://www.cncf.io/training/certification/software-conformance/; проверено05.10.2026. Дата встречи12.10, дата запуска15.10: готовность неизвестна. Сроки8/12/24 недели от готовой команды/договоров; исключение SLO99,9/RTO60/RPO15 должно быть принято инвестором. ПриложениеА—TCO инструкция, Б—FMEA. Полный транскрипт1346 слов в nairobi-script.md.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dc005e80d04c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c0f67a43b4ef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d3fa2619d43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73f2b708fc4a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17b6c0d512480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c4daf6eb364d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74875B8-ECAF-4ED6-8743-D1EA204F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B2E74B3-F264-4676-A352-84FCAD9564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6976FE5-BF55-4AAB-984F-FB4AB6B11FE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1AF6212-64C1-4FE3-AC36-F6D62313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B13514E-C22B-47D6-B6EC-7D35DF259A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2E7B333-13B9-47DA-A322-B0E809F3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3245BFB-F73D-4DB7-AF04-7F07E58B30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2151F24-21F0-4AD1-9CF7-2FFD5FF91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A782D0B-0888-46CB-BF86-D2B018CE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94B0CA-7FE4-464A-9A7C-A45F862E3C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9380ED0-D230-4451-B142-D999EDDA48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273A2BA-532A-48DE-B4FA-49B5665189C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1501856-8719-4A35-B722-B8033F63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FB71A50-E6BD-4734-A1CF-2AD062A988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7581BF3-3DF0-422B-8BC4-D9E3A7F021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1f573901784e2d" /><Relationship Type="http://schemas.openxmlformats.org/officeDocument/2006/relationships/slideLayout" Target="/ppt/slideLayouts/slideLayout1.xml" Id="Rd21e533e423b47b0" /><Relationship Type="http://schemas.openxmlformats.org/officeDocument/2006/relationships/slideLayout" Target="/ppt/slideLayouts/slideLayout2.xml" Id="Ra3fc6164ec1f43b6" /><Relationship Type="http://schemas.openxmlformats.org/officeDocument/2006/relationships/slideLayout" Target="/ppt/slideLayouts/slideLayout3.xml" Id="Rc7a53bd932c64c43" /><Relationship Type="http://schemas.openxmlformats.org/officeDocument/2006/relationships/slideLayout" Target="/ppt/slideLayouts/slideLayout4.xml" Id="Re22634414da649c2" /><Relationship Type="http://schemas.openxmlformats.org/officeDocument/2006/relationships/slideLayout" Target="/ppt/slideLayouts/slideLayout5.xml" Id="Racbf0751c74b409a" /><Relationship Type="http://schemas.openxmlformats.org/officeDocument/2006/relationships/slideLayout" Target="/ppt/slideLayouts/slideLayout6.xml" Id="Rc219be3b4db34a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1e533e423b47b0"/>
    <p:sldLayoutId xmlns:r="http://schemas.openxmlformats.org/officeDocument/2006/relationships" id="2147483650" r:id="Ra3fc6164ec1f43b6"/>
    <p:sldLayoutId xmlns:r="http://schemas.openxmlformats.org/officeDocument/2006/relationships" id="2147483651" r:id="Rc7a53bd932c64c43"/>
    <p:sldLayoutId xmlns:r="http://schemas.openxmlformats.org/officeDocument/2006/relationships" id="2147483652" r:id="Re22634414da649c2"/>
    <p:sldLayoutId xmlns:r="http://schemas.openxmlformats.org/officeDocument/2006/relationships" id="2147483653" r:id="Racbf0751c74b409a"/>
    <p:sldLayoutId xmlns:r="http://schemas.openxmlformats.org/officeDocument/2006/relationships" id="2147483654" r:id="Rc219be3b4db34a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197d1678dd4066" /><Relationship Type="http://schemas.openxmlformats.org/officeDocument/2006/relationships/notesSlide" Target="/ppt/notesSlides/notesSlide1.xml" Id="R1fe647d69a4b400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399E2-5562-43AB-A491-8619D890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"/>
            <a:ext cx="11430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B4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B45"/>
                </a:solidFill>
                <a:latin typeface="DejaVu Sans"/>
                <a:ea typeface="DejaVu Sans"/>
                <a:cs typeface="DejaVu Sans"/>
              </a:rPr>
              <a:t>Выбор: модульный монолит.</a:t>
            </a:r>
          </a:p>
          <a:p xmlns:a="http://schemas.openxmlformats.org/drawingml/2006/main">
            <a:pPr>
              <a:defRPr sz="3300" b="1">
                <a:solidFill>
                  <a:srgbClr val="173B4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73B45"/>
                </a:solidFill>
                <a:latin typeface="DejaVu Sans"/>
                <a:ea typeface="DejaVu Sans"/>
                <a:cs typeface="DejaVu Sans"/>
              </a:rPr>
              <a:t>Сервисы — по подтверждённой потребности.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C6CE9-5235-4F54-994B-496BD1B8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90650"/>
            <a:ext cx="1143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3B45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3B45"/>
                </a:solidFill>
                <a:latin typeface="DejaVu Sans"/>
                <a:ea typeface="DejaVu Sans"/>
                <a:cs typeface="DejaVu Sans"/>
              </a:rPr>
              <a:t>NG/KE · Go/PostgreSQL · лицензированные PSP и партнёрская доставка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381000" y="1905000"/>
          <a:ext xmlns:a="http://schemas.openxmlformats.org/drawingml/2006/main" cx="11430000" cy="2800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667000"/>
                <a:gridCol w="2667000"/>
                <a:gridCol w="2667000"/>
              </a:tblGrid>
              <a:tr h="4667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Критерий</a:t>
                      </a:r>
                    </a:p>
                  </a:txBody>
                  <a:tcPr marL="114300" marR="114300" marT="66675" marB="66675">
                    <a:solidFill>
                      <a:srgbClr val="173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 · монолит</a:t>
                      </a:r>
                    </a:p>
                  </a:txBody>
                  <a:tcPr marL="114300" marR="114300" marT="66675" marB="66675">
                    <a:solidFill>
                      <a:srgbClr val="173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 · 6 сервисов</a:t>
                      </a:r>
                    </a:p>
                  </a:txBody>
                  <a:tcPr marL="114300" marR="114300" marT="66675" marB="66675">
                    <a:solidFill>
                      <a:srgbClr val="173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 · CTO / 40</a:t>
                      </a:r>
                    </a:p>
                  </a:txBody>
                  <a:tcPr marL="114300" marR="114300" marT="66675" marB="66675">
                    <a:solidFill>
                      <a:srgbClr val="173B45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Срок / команда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 недель / 6 FTE</a:t>
                      </a:r>
                    </a:p>
                  </a:txBody>
                  <a:tcPr marL="114300" marR="114300" marT="66675" marB="66675"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12 недель / 8 FTE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 недели / 18 FTE</a:t>
                      </a:r>
                    </a:p>
                  </a:txBody>
                  <a:tcPr marL="114300" marR="114300" marT="66675" marB="66675"/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Техника / месяц¹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$3 950</a:t>
                      </a:r>
                    </a:p>
                  </a:txBody>
                  <a:tcPr marL="114300" marR="114300" marT="66675" marB="66675"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$4 750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$19 183</a:t>
                      </a:r>
                    </a:p>
                  </a:txBody>
                  <a:tcPr marL="114300" marR="114300" marT="66675" marB="66675"/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TCO 5 лет без PSP²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$13,26 млн</a:t>
                      </a:r>
                    </a:p>
                  </a:txBody>
                  <a:tcPr marL="114300" marR="114300" marT="66675" marB="66675"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$14,78 млн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$20,03 млн</a:t>
                      </a:r>
                    </a:p>
                  </a:txBody>
                  <a:tcPr marL="114300" marR="114300" marT="66675" marB="66675"/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Заказ: старт → 12 мес.³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$19,28 → $1,12</a:t>
                      </a:r>
                    </a:p>
                  </a:txBody>
                  <a:tcPr marL="114300" marR="114300" marT="66675" marB="66675"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$25,22 → $1,22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$60,66 → $1,68</a:t>
                      </a:r>
                    </a:p>
                  </a:txBody>
                  <a:tcPr marL="114300" marR="114300" marT="66675" marB="66675"/>
                </a:tc>
              </a:tr>
              <a:tr h="4667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Ошибка 10М → 50К⁴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$26,55 тыс.</a:t>
                      </a:r>
                    </a:p>
                  </a:txBody>
                  <a:tcPr marL="114300" marR="114300" marT="66675" marB="66675"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$63,15 тыс.</a:t>
                      </a:r>
                    </a:p>
                  </a:txBody>
                  <a:tcPr marL="114300" marR="114300" marT="66675" marB="66675"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73B45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$548,43 тыс.</a:t>
                      </a:r>
                    </a:p>
                  </a:txBody>
                  <a:tcPr marL="114300" marR="114300" marT="66675" marB="66675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49297-E854-4E7F-AB63-60E9C7A6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14900"/>
            <a:ext cx="1143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A4481B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A4481B"/>
                </a:solidFill>
                <a:latin typeface="DejaVu Sans"/>
                <a:ea typeface="DejaVu Sans"/>
                <a:cs typeface="DejaVu Sans"/>
              </a:rPr>
              <a:t>15.10: полный MVP с нуля не успевает. Go/no-go — 14.10.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460A1-AE8D-4CB7-8A6B-A732BDF3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448300"/>
            <a:ext cx="11430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3B45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3B45"/>
                </a:solidFill>
                <a:latin typeface="DejaVu Sans"/>
                <a:ea typeface="DejaVu Sans"/>
                <a:cs typeface="DejaVu Sans"/>
              </a:rPr>
              <a:t>Утвердить: объём/SLO · оферты CFO · готовность CEO/CTO.</a:t>
            </a:r>
          </a:p>
          <a:p xmlns:a="http://schemas.openxmlformats.org/drawingml/2006/main">
            <a:pPr>
              <a:defRPr sz="1800" b="0">
                <a:solidFill>
                  <a:srgbClr val="173B45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73B45"/>
                </a:solidFill>
                <a:latin typeface="DejaVu Sans"/>
                <a:ea typeface="DejaVu Sans"/>
                <a:cs typeface="DejaVu Sans"/>
              </a:rPr>
              <a:t>Kubernetes/Oracle — отдельный ADR после проверки нагрузки и бюджета.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72A5E-8394-4D9B-A0A4-C1BD9E51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67450"/>
            <a:ext cx="1143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46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46A"/>
                </a:solidFill>
                <a:latin typeface="DejaVu Sans"/>
                <a:ea typeface="DejaVu Sans"/>
                <a:cs typeface="DejaVu Sans"/>
              </a:rPr>
              <a:t>¹ Все регулярные IT, лимит $5К.  ² С резервом 10%.  ³ 2К → 131К заказов/мес., без разового запуска.</a:t>
            </a:r>
          </a:p>
          <a:p xmlns:a="http://schemas.openxmlformats.org/drawingml/2006/main">
            <a:pPr>
              <a:defRPr sz="1275" b="0">
                <a:solidFill>
                  <a:srgbClr val="52646A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46A"/>
                </a:solidFill>
                <a:latin typeface="DejaVu Sans"/>
                <a:ea typeface="DejaVu Sans"/>
                <a:cs typeface="DejaVu Sans"/>
              </a:rPr>
              <a:t>⁴ Невозвратные расходы по гипотезе 3 мес. до сокращения. Все цены — оценки; нужны договоры.</a:t>
            </a:r>
          </a:p>
        </p:txBody>
      </p:sp>
    </p:spTree>
    <p:extLst>
      <p:ext uri="{BB962C8B-B14F-4D97-AF65-F5344CB8AC3E}">
        <p14:creationId xmlns:p14="http://schemas.microsoft.com/office/powerpoint/2010/main" val="1239784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2026-10-05T09:06:24.5980000Z</dcterms:created>
  <dcterms:modified xsi:type="dcterms:W3CDTF">2026-10-05T09:06:24.5980000Z</dcterms:modified>
</coreProperties>
</file>